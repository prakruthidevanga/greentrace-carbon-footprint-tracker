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66" r:id="rId5"/>
    <p:sldId id="268" r:id="rId6"/>
    <p:sldId id="258" r:id="rId7"/>
    <p:sldId id="259" r:id="rId8"/>
    <p:sldId id="260" r:id="rId9"/>
    <p:sldId id="270" r:id="rId10"/>
    <p:sldId id="262" r:id="rId11"/>
    <p:sldId id="263" r:id="rId12"/>
    <p:sldId id="264" r:id="rId13"/>
    <p:sldId id="273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104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75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lendid-fudge-521fc5.netlify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2d-O6_P3UJDPx_BnKi9O7mWDt2oQCbdq/view?usp=sharing" TargetMode="External"/><Relationship Id="rId7" Type="http://schemas.openxmlformats.org/officeDocument/2006/relationships/hyperlink" Target="https://drive.google.com/file/d/1sYRaZyWYpsgT8eYgGsF--YpWFN6m-anv/view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prajwaldongre/global-plastic-waste-2023-a-country-wise-analysis" TargetMode="External"/><Relationship Id="rId5" Type="http://schemas.openxmlformats.org/officeDocument/2006/relationships/hyperlink" Target="https://docs.google.com/forms/d/11mjlxPHDjM7JmaWgvbyqsjh33qWnwnfYmkytxtKCvA0/edit#responses" TargetMode="External"/><Relationship Id="rId4" Type="http://schemas.openxmlformats.org/officeDocument/2006/relationships/hyperlink" Target="https://drive.google.com/file/d/1SuJ9baQJEpekHPiSrPOcWRk742YP8Oln/view?usp=sharin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plendid-fudge-521fc5.netlify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plendid-fudge-521fc5.netlify.app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91640" y="4114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GreenTrace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College Student Carbon Footprint Tracker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029200" cy="27432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India's Carbon Footprint — One Student at a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303520" cy="1371600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999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Prakruthi BR   |   Keerthi N   |   Pragathi BR   |   Bhumika 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Internship  ·  Batch 7  ·  1M1B Green Internship  · 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62272"/>
            <a:ext cx="32004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02920" y="4462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Live:  </a:t>
            </a:r>
            <a:r>
              <a:rPr lang="en-IN" sz="1000" dirty="0">
                <a:hlinkClick r:id="rId3"/>
              </a:rPr>
              <a:t>https://splendid-fudge-521fc5.netlify.app/</a:t>
            </a:r>
            <a:endParaRPr lang="en-IN" sz="10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6F4941A-1E83-5903-3E85-D338C6EEC723}"/>
              </a:ext>
            </a:extLst>
          </p:cNvPr>
          <p:cNvSpPr/>
          <p:nvPr/>
        </p:nvSpPr>
        <p:spPr>
          <a:xfrm>
            <a:off x="6960475" y="182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🌿 1M1B Internship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GreenTrace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64008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Unaware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college students had no idea about the environmental impact of products they use daily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64008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 Plastics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Indian college student uses 30 to 50 single-use plastic items every single day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64008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 Tool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4005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India-specific interactive tool existed to compare product sustainability for local students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64008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3657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4005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existing tools gave data but never told users what to do or which product to switch first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Roadmap &amp; Implementation Plan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8046720" cy="54864"/>
          </a:xfrm>
          <a:prstGeom prst="rect">
            <a:avLst/>
          </a:prstGeom>
          <a:solidFill>
            <a:srgbClr val="CCDDCC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731520" cy="731520"/>
          </a:xfrm>
          <a:prstGeom prst="ellipse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2651760"/>
            <a:ext cx="1325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1325880" cy="54864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2004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65760" y="3218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Products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3703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10 everyday products for life cycle analysis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65960" y="1737360"/>
            <a:ext cx="731520" cy="73152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965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737360" y="2651760"/>
            <a:ext cx="1325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737360" y="2651760"/>
            <a:ext cx="1325880" cy="5486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73736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783080" y="3218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Data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83080" y="3703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environmental data for each life cycle stage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383280" y="1737360"/>
            <a:ext cx="731520" cy="731520"/>
          </a:xfrm>
          <a:prstGeom prst="ellipse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3832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154680" y="2651760"/>
            <a:ext cx="1325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154680" y="2651760"/>
            <a:ext cx="1325880" cy="54864"/>
          </a:xfrm>
          <a:prstGeom prst="rect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15468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3200400" y="3218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Data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00400" y="3703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analyze using spreadsheet tools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800600" y="1737360"/>
            <a:ext cx="731520" cy="731520"/>
          </a:xfrm>
          <a:prstGeom prst="ellipse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8006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0" y="2651760"/>
            <a:ext cx="1325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572000" y="2651760"/>
            <a:ext cx="1325880" cy="54864"/>
          </a:xfrm>
          <a:prstGeom prst="rect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57200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4617720" y="3218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Dashboard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617720" y="3703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interactive environmental comparison dashboard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217920" y="173736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2179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989320" y="2651760"/>
            <a:ext cx="1325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5989320" y="2651760"/>
            <a:ext cx="13258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98932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6035040" y="3218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 &amp; Recommend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035040" y="3703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 and prepare recommendations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635240" y="1737360"/>
            <a:ext cx="731520" cy="73152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76352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406640" y="2651760"/>
            <a:ext cx="1325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7406640" y="2651760"/>
            <a:ext cx="1325880" cy="5486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740664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7452360" y="3218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 Findings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7452360" y="3703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report and presentation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971800" y="114300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2971800" y="1143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2E"/>
                </a:solidFill>
              </a:rPr>
              <a:t>⏱️  Estimated Duration: 30–40 Hours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Gathered from Stakeholders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Via Google Forms Survey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73736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65760" y="18288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C6E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68%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1325880" y="1920240"/>
            <a:ext cx="27432" cy="914400"/>
          </a:xfrm>
          <a:prstGeom prst="rect">
            <a:avLst/>
          </a:prstGeom>
          <a:solidFill>
            <a:srgbClr val="D4E8DA"/>
          </a:solidFill>
          <a:ln w="12700">
            <a:solidFill>
              <a:srgbClr val="D4E8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4447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🛍️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444752" y="2240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plastic packaging products on a daily basis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173736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46320" y="18288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5806440" y="1920240"/>
            <a:ext cx="27432" cy="914400"/>
          </a:xfrm>
          <a:prstGeom prst="rect">
            <a:avLst/>
          </a:prstGeom>
          <a:solidFill>
            <a:srgbClr val="D4E8DA"/>
          </a:solidFill>
          <a:ln w="12700">
            <a:solidFill>
              <a:srgbClr val="D4E8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9253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925312" y="2240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price &amp; convenience over sustainability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4320" y="324612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65760" y="333756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</a:t>
            </a:r>
            <a:endParaRPr lang="en-US" sz="3400" dirty="0"/>
          </a:p>
        </p:txBody>
      </p:sp>
      <p:sp>
        <p:nvSpPr>
          <p:cNvPr id="19" name="Shape 16"/>
          <p:cNvSpPr/>
          <p:nvPr/>
        </p:nvSpPr>
        <p:spPr>
          <a:xfrm>
            <a:off x="1325880" y="3429000"/>
            <a:ext cx="27432" cy="914400"/>
          </a:xfrm>
          <a:prstGeom prst="rect">
            <a:avLst/>
          </a:prstGeom>
          <a:solidFill>
            <a:srgbClr val="D4E8DA"/>
          </a:solidFill>
          <a:ln w="12700">
            <a:solidFill>
              <a:srgbClr val="D4E8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44475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444752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 of full product life cycle impacts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754880" y="324612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846320" y="333756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D9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81%</a:t>
            </a:r>
            <a:endParaRPr lang="en-US" sz="3400" dirty="0"/>
          </a:p>
        </p:txBody>
      </p:sp>
      <p:sp>
        <p:nvSpPr>
          <p:cNvPr id="24" name="Shape 21"/>
          <p:cNvSpPr/>
          <p:nvPr/>
        </p:nvSpPr>
        <p:spPr>
          <a:xfrm>
            <a:off x="5806440" y="3429000"/>
            <a:ext cx="27432" cy="914400"/>
          </a:xfrm>
          <a:prstGeom prst="rect">
            <a:avLst/>
          </a:prstGeom>
          <a:solidFill>
            <a:srgbClr val="D4E8DA"/>
          </a:solidFill>
          <a:ln w="12700">
            <a:solidFill>
              <a:srgbClr val="D4E8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92531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5925312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in learning about eco-friendly alternatives</a:t>
            </a:r>
            <a:endParaRPr lang="en-US" sz="115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C71FD367-DFFC-A371-5DB4-0E1E13716F39}"/>
              </a:ext>
            </a:extLst>
          </p:cNvPr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  <p:txBody>
          <a:bodyPr/>
          <a:lstStyle/>
          <a:p>
            <a:pPr algn="ctr"/>
            <a:r>
              <a:rPr lang="en-US" sz="11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Stakeholders Tested: 42   |   Survey Rounds: 2   |   Platform: Google Forms   |   All responses anonymous</a:t>
            </a:r>
            <a:endParaRPr lang="en-US" sz="11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of Discussions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097280" cy="822960"/>
          </a:xfrm>
          <a:prstGeom prst="rect">
            <a:avLst/>
          </a:prstGeom>
          <a:solidFill>
            <a:srgbClr val="2C6E49">
              <a:alpha val="20000"/>
            </a:srgbClr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Screenshots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600200" y="1783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responses &amp; participation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2468880" cy="457200"/>
          </a:xfrm>
          <a:prstGeom prst="rect">
            <a:avLst/>
          </a:prstGeom>
          <a:solidFill>
            <a:srgbClr val="EEF7F1"/>
          </a:solidFill>
          <a:ln w="12700">
            <a:solidFill>
              <a:srgbClr val="C8DDD0"/>
            </a:solidFill>
            <a:prstDash val="solid"/>
          </a:ln>
        </p:spPr>
        <p:txBody>
          <a:bodyPr/>
          <a:lstStyle/>
          <a:p>
            <a:r>
              <a:rPr lang="en-IN" sz="900" dirty="0">
                <a:hlinkClick r:id="rId3"/>
              </a:rPr>
              <a:t>https://drive.google.com/file/d/12d-O6_P3UJDPx_BnKi9O7mWDt2oQCbdq/view?usp=sharing</a:t>
            </a:r>
            <a:endParaRPr lang="en-IN" sz="900" dirty="0"/>
          </a:p>
          <a:p>
            <a:endParaRPr lang="en-IN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11887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18688" y="1188720"/>
            <a:ext cx="2743200" cy="6400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55848" y="1371600"/>
            <a:ext cx="1097280" cy="822960"/>
          </a:xfrm>
          <a:prstGeom prst="rect">
            <a:avLst/>
          </a:prstGeom>
          <a:solidFill>
            <a:srgbClr val="5C6BC0">
              <a:alpha val="20000"/>
            </a:srgbClr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55848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44568" y="1371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Discussions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4568" y="1783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notes from planning sessions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55848" y="2331720"/>
            <a:ext cx="2468880" cy="411480"/>
          </a:xfrm>
          <a:prstGeom prst="rect">
            <a:avLst/>
          </a:prstGeom>
          <a:solidFill>
            <a:srgbClr val="EEF7F1"/>
          </a:solidFill>
          <a:ln w="12700">
            <a:solidFill>
              <a:srgbClr val="C8DDD0"/>
            </a:solidFill>
            <a:prstDash val="solid"/>
          </a:ln>
        </p:spPr>
        <p:txBody>
          <a:bodyPr/>
          <a:lstStyle/>
          <a:p>
            <a:r>
              <a:rPr lang="en-IN" sz="900" dirty="0">
                <a:hlinkClick r:id="rId4"/>
              </a:rPr>
              <a:t>https://drive.google.com/file/d/1SuJ9baQJEpekHPiSrPOcWRk742YP8Oln/view?usp=sharing</a:t>
            </a:r>
            <a:endParaRPr lang="en-IN" sz="900" dirty="0"/>
          </a:p>
          <a:p>
            <a:endParaRPr lang="en-IN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1188720"/>
            <a:ext cx="2743200" cy="2221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63056" y="118872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00216" y="1371600"/>
            <a:ext cx="1097280" cy="822960"/>
          </a:xfrm>
          <a:prstGeom prst="rect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0216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488936" y="1371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88936" y="1783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data collection and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0216" y="2331720"/>
            <a:ext cx="2468880" cy="640080"/>
          </a:xfrm>
          <a:prstGeom prst="rect">
            <a:avLst/>
          </a:prstGeom>
          <a:solidFill>
            <a:srgbClr val="EEF7F1"/>
          </a:solidFill>
          <a:ln w="12700">
            <a:solidFill>
              <a:srgbClr val="C8DDD0"/>
            </a:solidFill>
            <a:prstDash val="solid"/>
          </a:ln>
        </p:spPr>
        <p:txBody>
          <a:bodyPr/>
          <a:lstStyle/>
          <a:p>
            <a:r>
              <a:rPr lang="en-IN" sz="800" dirty="0">
                <a:hlinkClick r:id="rId5"/>
              </a:rPr>
              <a:t>https://docs.google.com/forms/d/11mjlxPHDjM7JmaWgvbyqsjh33qWnwnfYmkytxtKCvA0/edit#responses</a:t>
            </a:r>
            <a:endParaRPr lang="en-IN" sz="800" dirty="0"/>
          </a:p>
          <a:p>
            <a:r>
              <a:rPr lang="en-IN" sz="800" dirty="0">
                <a:hlinkClick r:id="rId6"/>
              </a:rPr>
              <a:t>https://www.kaggle.com/datasets/prajwaldongre/global-plastic-waste-2023-a-country-wise-analysis</a:t>
            </a:r>
            <a:endParaRPr lang="en-IN" sz="800" dirty="0"/>
          </a:p>
          <a:p>
            <a:endParaRPr lang="en-IN" sz="800" dirty="0"/>
          </a:p>
          <a:p>
            <a:endParaRPr lang="en-IN" sz="800" dirty="0"/>
          </a:p>
        </p:txBody>
      </p:sp>
      <p:sp>
        <p:nvSpPr>
          <p:cNvPr id="28" name="Text 26"/>
          <p:cNvSpPr/>
          <p:nvPr/>
        </p:nvSpPr>
        <p:spPr>
          <a:xfrm>
            <a:off x="6300216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1089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27432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11480" y="3291840"/>
            <a:ext cx="1097280" cy="822960"/>
          </a:xfrm>
          <a:prstGeom prst="rect">
            <a:avLst/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600200" y="3291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Dev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600200" y="37033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screenshots of dashboard development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251960"/>
            <a:ext cx="2468880" cy="411480"/>
          </a:xfrm>
          <a:prstGeom prst="rect">
            <a:avLst/>
          </a:prstGeom>
          <a:solidFill>
            <a:srgbClr val="EEF7F1"/>
          </a:solidFill>
          <a:ln w="12700">
            <a:solidFill>
              <a:srgbClr val="C8DD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4114800"/>
            <a:ext cx="2468880" cy="670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IN" sz="800" dirty="0">
              <a:hlinkClick r:id=""/>
            </a:endParaRPr>
          </a:p>
          <a:p>
            <a:pPr algn="ctr"/>
            <a:endParaRPr lang="en-IN" sz="800" dirty="0">
              <a:hlinkClick r:id=""/>
            </a:endParaRPr>
          </a:p>
          <a:p>
            <a:pPr algn="ctr"/>
            <a:endParaRPr lang="en-IN" sz="800" dirty="0">
              <a:hlinkClick r:id=""/>
            </a:endParaRPr>
          </a:p>
          <a:p>
            <a:pPr algn="ctr"/>
            <a:endParaRPr lang="en-IN" sz="800" dirty="0">
              <a:hlinkClick r:id=""/>
            </a:endParaRPr>
          </a:p>
          <a:p>
            <a:pPr algn="ctr"/>
            <a:r>
              <a:rPr lang="en-IN" sz="800" dirty="0">
                <a:hlinkClick r:id=""/>
              </a:rPr>
              <a:t>https://drive.google.com/file/d/1Yv72sJzjUfRTAQ32GcTBCAavKcFYzOP7/view?usp=sharing</a:t>
            </a:r>
            <a:endParaRPr lang="en-IN" sz="800" dirty="0"/>
          </a:p>
          <a:p>
            <a:pPr algn="ctr"/>
            <a:endParaRPr lang="en-IN" sz="900" dirty="0"/>
          </a:p>
          <a:p>
            <a:pPr algn="ctr"/>
            <a:endParaRPr lang="en-IN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18688" y="31089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18688" y="3108960"/>
            <a:ext cx="2743200" cy="64008"/>
          </a:xfrm>
          <a:prstGeom prst="rect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355848" y="3291840"/>
            <a:ext cx="1097280" cy="822960"/>
          </a:xfrm>
          <a:prstGeom prst="rect">
            <a:avLst/>
          </a:prstGeom>
          <a:solidFill>
            <a:srgbClr val="4D9974">
              <a:alpha val="20000"/>
            </a:srgbClr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55848" y="3291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544568" y="3291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Data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44568" y="37033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and engagement evidence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55848" y="4251960"/>
            <a:ext cx="2468880" cy="411480"/>
          </a:xfrm>
          <a:prstGeom prst="rect">
            <a:avLst/>
          </a:prstGeom>
          <a:solidFill>
            <a:srgbClr val="EEF7F1"/>
          </a:solidFill>
          <a:ln w="12700">
            <a:solidFill>
              <a:srgbClr val="C8DDD0"/>
            </a:solidFill>
            <a:prstDash val="solid"/>
          </a:ln>
        </p:spPr>
        <p:txBody>
          <a:bodyPr/>
          <a:lstStyle/>
          <a:p>
            <a:r>
              <a:rPr lang="en-IN" sz="800" dirty="0">
                <a:hlinkClick r:id="rId7"/>
              </a:rPr>
              <a:t>https://drive.google.com/file/d/1sYRaZyWYpsgT8eYgGsF--YpWFN6m-anv/view?usp=sharing</a:t>
            </a:r>
            <a:endParaRPr lang="en-IN" sz="800" dirty="0"/>
          </a:p>
          <a:p>
            <a:endParaRPr lang="en-IN" sz="800" dirty="0"/>
          </a:p>
        </p:txBody>
      </p:sp>
      <p:sp>
        <p:nvSpPr>
          <p:cNvPr id="44" name="Text 42"/>
          <p:cNvSpPr/>
          <p:nvPr/>
        </p:nvSpPr>
        <p:spPr>
          <a:xfrm>
            <a:off x="3355848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F12"/>
          </a:solidFill>
          <a:ln w="12700">
            <a:solidFill>
              <a:srgbClr val="0A1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GreenTrace Does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828800" cy="1280160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Products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1828800" cy="1280160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468880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Stages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1828800" cy="1280160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0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508760"/>
            <a:ext cx="1828800" cy="1280160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7512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675120" y="2267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Levels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Stages Analyzed: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1554480" cy="64008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⛏️ Raw Materials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5204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57400" y="3383280"/>
            <a:ext cx="1554480" cy="64008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05740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Manufacturing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5204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0" y="3383280"/>
            <a:ext cx="1554480" cy="64008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74904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Distribution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35204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0680" y="3383280"/>
            <a:ext cx="1554480" cy="64008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4068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Use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5204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32320" y="3383280"/>
            <a:ext cx="1554480" cy="64008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13232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Disposal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4572000"/>
            <a:ext cx="1920240" cy="420624"/>
          </a:xfrm>
          <a:prstGeom prst="rect">
            <a:avLst/>
          </a:prstGeom>
          <a:solidFill>
            <a:srgbClr val="0A1F1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CO₂ Emissions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4572000"/>
            <a:ext cx="1920240" cy="420624"/>
          </a:xfrm>
          <a:prstGeom prst="rect">
            <a:avLst/>
          </a:prstGeom>
          <a:solidFill>
            <a:srgbClr val="0A1F1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60320" y="45720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 Usage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4572000"/>
            <a:ext cx="1920240" cy="420624"/>
          </a:xfrm>
          <a:prstGeom prst="rect">
            <a:avLst/>
          </a:prstGeom>
          <a:solidFill>
            <a:srgbClr val="0A1F12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63440" y="45720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Energy Use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4572000"/>
            <a:ext cx="1920240" cy="420624"/>
          </a:xfrm>
          <a:prstGeom prst="rect">
            <a:avLst/>
          </a:prstGeom>
          <a:solidFill>
            <a:srgbClr val="0A1F12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766560" y="45720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Waste Generated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GreenTrace Stand Out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560320" cy="384048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1508760"/>
            <a:ext cx="2743200" cy="384048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71800" y="1508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Teams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508760"/>
            <a:ext cx="2743200" cy="384048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15000" y="1508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GreenTrace 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892808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8928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1892808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971800" y="18928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global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1892808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15000" y="18928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college student products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295144"/>
            <a:ext cx="256032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29514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2295144"/>
            <a:ext cx="274320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71800" y="22951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global LCA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2295144"/>
            <a:ext cx="274320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715000" y="22951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CPCB, Indian brand 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697480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26974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80360" y="2697480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71800" y="26974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eco options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23560" y="2697480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715000" y="26974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Khadi, Patanjali, Kabadiwala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099816"/>
            <a:ext cx="256032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309981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80360" y="3099816"/>
            <a:ext cx="274320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971800" y="309981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23560" y="3099816"/>
            <a:ext cx="274320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715000" y="309981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Switch? feature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502152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11480" y="350215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Context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80360" y="350215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971800" y="35021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relevance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23560" y="350215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715000" y="35021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hostel life, sachets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3904488"/>
            <a:ext cx="256032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11480" y="390448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Count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880360" y="3904488"/>
            <a:ext cx="274320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971800" y="39044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10 items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23560" y="3904488"/>
            <a:ext cx="2743200" cy="402336"/>
          </a:xfrm>
          <a:prstGeom prst="rect">
            <a:avLst/>
          </a:prstGeom>
          <a:solidFill>
            <a:srgbClr val="E8F7E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15000" y="39044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real Indian daily products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F12"/>
          </a:solidFill>
          <a:ln w="12700">
            <a:solidFill>
              <a:srgbClr val="0A1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GreenTrace Dashboard — 5 Pages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06040" cy="1417320"/>
          </a:xfrm>
          <a:prstGeom prst="rect">
            <a:avLst/>
          </a:prstGeom>
          <a:solidFill>
            <a:srgbClr val="0A2818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life cycle stages, impact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554480"/>
            <a:ext cx="2606040" cy="1417320"/>
          </a:xfrm>
          <a:prstGeom prst="rect">
            <a:avLst/>
          </a:prstGeom>
          <a:solidFill>
            <a:srgbClr val="0A2818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5420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Indian products with Should I Switch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554480"/>
            <a:ext cx="2606040" cy="1417320"/>
          </a:xfrm>
          <a:prstGeom prst="rect">
            <a:avLst/>
          </a:prstGeom>
          <a:solidFill>
            <a:srgbClr val="0A2818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5420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comparison, Best badges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59252"/>
            <a:ext cx="2606040" cy="1417320"/>
          </a:xfrm>
          <a:prstGeom prst="rect">
            <a:avLst/>
          </a:prstGeom>
          <a:solidFill>
            <a:srgbClr val="0A2818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233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Pie, Donut charts with % labels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3177540"/>
            <a:ext cx="2606040" cy="1417320"/>
          </a:xfrm>
          <a:prstGeom prst="rect">
            <a:avLst/>
          </a:prstGeom>
          <a:solidFill>
            <a:srgbClr val="0A2818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0" y="3383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91840" y="38862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42336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results, team, project background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654296"/>
            <a:ext cx="8503920" cy="34747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Prototype:  </a:t>
            </a:r>
            <a:r>
              <a:rPr lang="en-IN" sz="1200" dirty="0">
                <a:hlinkClick r:id="rId3"/>
              </a:rPr>
              <a:t>https://splendid-fudge-521fc5.netlify.app/</a:t>
            </a:r>
            <a:endParaRPr lang="en-I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🛍️  Product Explorer – 20 Products Across 7 Categories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1143000" cy="347472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1078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📦 Packaging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17904" y="1078992"/>
            <a:ext cx="1143000" cy="347472"/>
          </a:xfrm>
          <a:prstGeom prst="rect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517904" y="1078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📱 Electronics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9776" y="1078992"/>
            <a:ext cx="114300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79776" y="1078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🧴 Personal Care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41648" y="1078992"/>
            <a:ext cx="114300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041648" y="1078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🍪 Food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1078992"/>
            <a:ext cx="1143000" cy="347472"/>
          </a:xfrm>
          <a:prstGeom prst="rect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0" y="1078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🏠 Household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65392" y="1078992"/>
            <a:ext cx="1143000" cy="347472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65392" y="1078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📓 Stationery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27264" y="1078992"/>
            <a:ext cx="1143000" cy="34747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27264" y="1078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👟 Clothing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155448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64592" y="1554480"/>
            <a:ext cx="1627632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64592" y="159105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🍶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" y="16093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 Water Bottle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38528" y="155448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938528" y="1554480"/>
            <a:ext cx="1627632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938528" y="159105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395728" y="16093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 Bag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95728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12464" y="155448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712464" y="1554480"/>
            <a:ext cx="1627632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12464" y="159105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169664" y="16093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Disposable Coffee Cup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69664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155448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486400" y="1554480"/>
            <a:ext cx="1627632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0" y="159105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🥤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943600" y="16093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Aluminum Can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60336" y="155448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260336" y="1554480"/>
            <a:ext cx="1627632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260336" y="159105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🍪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717536" y="16093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Packaged Snacks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17536" y="1938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237744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64592" y="2377440"/>
            <a:ext cx="1627632" cy="64008"/>
          </a:xfrm>
          <a:prstGeom prst="rect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64592" y="241401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21792" y="2432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Phone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7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95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938528" y="237744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1938528" y="2377440"/>
            <a:ext cx="1627632" cy="64008"/>
          </a:xfrm>
          <a:prstGeom prst="rect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938528" y="241401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2395728" y="2432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395728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7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88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12464" y="237744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3712464" y="2377440"/>
            <a:ext cx="1627632" cy="64008"/>
          </a:xfrm>
          <a:prstGeom prst="rect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712464" y="241401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🔋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4169664" y="2432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 Battery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69664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7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75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86400" y="237744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486400" y="2377440"/>
            <a:ext cx="1627632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486400" y="241401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🧴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5943600" y="2432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Shampoo Bottle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0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60336" y="237744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7260336" y="2377440"/>
            <a:ext cx="1627632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260336" y="241401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🪥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7717536" y="2432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Toothpaste Tube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717536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64592" y="320040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164592" y="3200400"/>
            <a:ext cx="1627632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164592" y="323697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🧼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621792" y="32552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Soap Bar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1792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38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938528" y="320040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1938528" y="3200400"/>
            <a:ext cx="1627632" cy="64008"/>
          </a:xfrm>
          <a:prstGeom prst="rect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1938528" y="323697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2395728" y="32552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Laundry Detergent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395728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D9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68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712464" y="320040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3712464" y="3200400"/>
            <a:ext cx="1627632" cy="64008"/>
          </a:xfrm>
          <a:prstGeom prst="rect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712464" y="323697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🧻</a:t>
            </a:r>
            <a:endParaRPr lang="en-US" sz="2000" dirty="0"/>
          </a:p>
        </p:txBody>
      </p:sp>
      <p:sp>
        <p:nvSpPr>
          <p:cNvPr id="81" name="Text 79"/>
          <p:cNvSpPr/>
          <p:nvPr/>
        </p:nvSpPr>
        <p:spPr>
          <a:xfrm>
            <a:off x="4169664" y="32552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 Towel Roll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69664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D9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486400" y="320040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5486400" y="3200400"/>
            <a:ext cx="1627632" cy="64008"/>
          </a:xfrm>
          <a:prstGeom prst="rect">
            <a:avLst/>
          </a:prstGeom>
          <a:solidFill>
            <a:srgbClr val="4D9974"/>
          </a:solidFill>
          <a:ln w="12700">
            <a:solidFill>
              <a:srgbClr val="4D99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5486400" y="323697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86" name="Text 84"/>
          <p:cNvSpPr/>
          <p:nvPr/>
        </p:nvSpPr>
        <p:spPr>
          <a:xfrm>
            <a:off x="5943600" y="32552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Bulb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943600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D9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35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260336" y="320040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7260336" y="3200400"/>
            <a:ext cx="1627632" cy="64008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7260336" y="323697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7717536" y="32552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 Notebook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717536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64592" y="402336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164592" y="4023360"/>
            <a:ext cx="1627632" cy="64008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164592" y="405993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🖊️</a:t>
            </a:r>
            <a:endParaRPr lang="en-US" sz="2000" dirty="0"/>
          </a:p>
        </p:txBody>
      </p:sp>
      <p:sp>
        <p:nvSpPr>
          <p:cNvPr id="96" name="Text 94"/>
          <p:cNvSpPr/>
          <p:nvPr/>
        </p:nvSpPr>
        <p:spPr>
          <a:xfrm>
            <a:off x="621792" y="40782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Ballpoint Pen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21792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45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938528" y="402336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1938528" y="4023360"/>
            <a:ext cx="1627632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1938528" y="405993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👟</a:t>
            </a:r>
            <a:endParaRPr lang="en-US" sz="2000" dirty="0"/>
          </a:p>
        </p:txBody>
      </p:sp>
      <p:sp>
        <p:nvSpPr>
          <p:cNvPr id="101" name="Text 99"/>
          <p:cNvSpPr/>
          <p:nvPr/>
        </p:nvSpPr>
        <p:spPr>
          <a:xfrm>
            <a:off x="2395728" y="40782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Sneakers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2395728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85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712464" y="402336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3712464" y="4023360"/>
            <a:ext cx="1627632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3712464" y="405993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👕</a:t>
            </a:r>
            <a:endParaRPr lang="en-US" sz="2000" dirty="0"/>
          </a:p>
        </p:txBody>
      </p:sp>
      <p:sp>
        <p:nvSpPr>
          <p:cNvPr id="106" name="Text 104"/>
          <p:cNvSpPr/>
          <p:nvPr/>
        </p:nvSpPr>
        <p:spPr>
          <a:xfrm>
            <a:off x="4169664" y="40782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Cotton T-Shirt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4169664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70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486400" y="402336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5486400" y="4023360"/>
            <a:ext cx="1627632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5486400" y="405993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☂️</a:t>
            </a:r>
            <a:endParaRPr lang="en-US" sz="2000" dirty="0"/>
          </a:p>
        </p:txBody>
      </p:sp>
      <p:sp>
        <p:nvSpPr>
          <p:cNvPr id="111" name="Text 109"/>
          <p:cNvSpPr/>
          <p:nvPr/>
        </p:nvSpPr>
        <p:spPr>
          <a:xfrm>
            <a:off x="5943600" y="40782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Umbrella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943600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7260336" y="4023360"/>
            <a:ext cx="162763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7260336" y="4023360"/>
            <a:ext cx="1627632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7260336" y="4059936"/>
            <a:ext cx="438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🧦</a:t>
            </a:r>
            <a:endParaRPr lang="en-US" sz="2000" dirty="0"/>
          </a:p>
        </p:txBody>
      </p:sp>
      <p:sp>
        <p:nvSpPr>
          <p:cNvPr id="116" name="Text 114"/>
          <p:cNvSpPr/>
          <p:nvPr/>
        </p:nvSpPr>
        <p:spPr>
          <a:xfrm>
            <a:off x="7717536" y="40782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Socks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717536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F12"/>
          </a:solidFill>
          <a:ln w="12700">
            <a:solidFill>
              <a:srgbClr val="0A1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from Real Users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06040" cy="1463040"/>
          </a:xfrm>
          <a:prstGeom prst="rect">
            <a:avLst/>
          </a:prstGeom>
          <a:solidFill>
            <a:srgbClr val="0A2818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Tested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508760"/>
            <a:ext cx="2606040" cy="1463040"/>
          </a:xfrm>
          <a:prstGeom prst="rect">
            <a:avLst/>
          </a:prstGeom>
          <a:solidFill>
            <a:srgbClr val="0A2818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20391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Higher Awareness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508760"/>
            <a:ext cx="2606040" cy="1463040"/>
          </a:xfrm>
          <a:prstGeom prst="rect">
            <a:avLst/>
          </a:prstGeom>
          <a:solidFill>
            <a:srgbClr val="0A2818"/>
          </a:solidFill>
          <a:ln w="12700">
            <a:solidFill>
              <a:srgbClr val="CA8A0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0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0391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Rating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2606040" cy="1463040"/>
          </a:xfrm>
          <a:prstGeom prst="rect">
            <a:avLst/>
          </a:prstGeom>
          <a:solidFill>
            <a:srgbClr val="0A2818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36850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Recommend GreenTrace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54680" y="3154680"/>
            <a:ext cx="2606040" cy="1463040"/>
          </a:xfrm>
          <a:prstGeom prst="rect">
            <a:avLst/>
          </a:prstGeom>
          <a:solidFill>
            <a:srgbClr val="0A2818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91840" y="36850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29184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Switched to Eco Items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3154680"/>
            <a:ext cx="2606040" cy="1463040"/>
          </a:xfrm>
          <a:prstGeom prst="rect">
            <a:avLst/>
          </a:prstGeom>
          <a:solidFill>
            <a:srgbClr val="0A2818"/>
          </a:solidFill>
          <a:ln w="12700">
            <a:solidFill>
              <a:srgbClr val="DC262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2648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36850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1800kg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12648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Saved (reusable bottle)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PRODUCTS &amp; ALTERNATIVES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Products Students Actually Use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0690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HIGH IMPACT — Switch Immediately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65376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Smartphone (95)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4069080" cy="329184"/>
          </a:xfrm>
          <a:prstGeom prst="rect">
            <a:avLst/>
          </a:prstGeom>
          <a:solidFill>
            <a:srgbClr val="E8F7E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🌮 Thermocol Plate (88)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Plastic Bottle (85)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4069080" cy="329184"/>
          </a:xfrm>
          <a:prstGeom prst="rect">
            <a:avLst/>
          </a:prstGeom>
          <a:solidFill>
            <a:srgbClr val="E8F7E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Earphones (82)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255264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255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Maggi Pack (70)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40690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Indian Eco-Alternatives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865376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92040" y="1865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🪵 Areca Leaf / Banana Leaf Plates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212848"/>
            <a:ext cx="4069080" cy="329184"/>
          </a:xfrm>
          <a:prstGeom prst="rect">
            <a:avLst/>
          </a:prstGeom>
          <a:solidFill>
            <a:srgbClr val="E8F7E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92040" y="2212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🧴 Khadi Shampoo Bar (zero packaging)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92040" y="2560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🧴 Steel / Copper Water Bottle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907792"/>
            <a:ext cx="4069080" cy="329184"/>
          </a:xfrm>
          <a:prstGeom prst="rect">
            <a:avLst/>
          </a:prstGeom>
          <a:solidFill>
            <a:srgbClr val="E8F7E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2907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👜 Jute Bag (₹30–₹80)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92040" y="3255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Rechargeable NiMH Batteries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8503920" cy="438912"/>
          </a:xfrm>
          <a:prstGeom prst="rect">
            <a:avLst/>
          </a:prstGeom>
          <a:solidFill>
            <a:srgbClr val="D4F0E0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37033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Traditional Indian recycling: Kabadiwala system, Neem Datun, Bamboo India, Patanjali, Himalaya, Biotique and more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solidFill>
            <a:srgbClr val="0F2D1A"/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Should I Switch? — Our Unique Feature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626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PRIORITY  </a:t>
            </a: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CONSIDER SWITCHING  </a:t>
            </a:r>
            <a:r>
              <a:rPr lang="en-US" sz="11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LOW PRIORITY  </a:t>
            </a: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GOOD CHOICE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Building GreenTrace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6184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2167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Data Was Hard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514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reliable CPCB and Indian brand-level LCA data took significant research effort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73752" y="16184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73752" y="2167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Feedback Was a Gift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2514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told we were "too similar" pushed us to create something genuinely unique and more impactful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" y="32186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Decisions Not Just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4114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showed users wanted to be told what to DO — not just see numbers. That led to Should I Switch.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10896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73752" y="32186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73752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Alternatives Are Accessible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4114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discovered that traditional Indian options like kabadiwala and neem datun are genuinely better eco choices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👩‍💻  Meet the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6400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298448"/>
            <a:ext cx="1005840" cy="100584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2984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🔎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Prakruthi BR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Data Collection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3502152"/>
            <a:ext cx="201168" cy="201168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20 products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3849624"/>
            <a:ext cx="201168" cy="201168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8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survey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4197096"/>
            <a:ext cx="201168" cy="201168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9808" y="4142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87168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487168" y="1143000"/>
            <a:ext cx="2011680" cy="64008"/>
          </a:xfrm>
          <a:prstGeom prst="rect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990088" y="1298448"/>
            <a:ext cx="1005840" cy="1005840"/>
          </a:xfrm>
          <a:prstGeom prst="ellipse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990088" y="12984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2578608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Keerthi 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78608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7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88336" y="3502152"/>
            <a:ext cx="201168" cy="201168"/>
          </a:xfrm>
          <a:prstGeom prst="ellipse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962656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live 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88336" y="3849624"/>
            <a:ext cx="201168" cy="201168"/>
          </a:xfrm>
          <a:prstGeom prst="ellipse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62656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UI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88336" y="4197096"/>
            <a:ext cx="201168" cy="201168"/>
          </a:xfrm>
          <a:prstGeom prst="ellipse">
            <a:avLst/>
          </a:prstGeom>
          <a:solidFill>
            <a:srgbClr val="1D7ACB"/>
          </a:solidFill>
          <a:ln w="12700">
            <a:solidFill>
              <a:srgbClr val="1D7A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62656" y="4142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deploy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0016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0016" y="1143000"/>
            <a:ext cx="20116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202936" y="1298448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202936" y="12984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♻️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791456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Pragathi BR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91456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Analysis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01184" y="3502152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75504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scoring model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01184" y="3849624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175504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analysis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01184" y="4197096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175504" y="4142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scoring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12864" y="114300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912864" y="1143000"/>
            <a:ext cx="201168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415784" y="1298448"/>
            <a:ext cx="1005840" cy="10058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415784" y="12984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💡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7004304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Bhumika 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04304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Insights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14032" y="3502152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388352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PPT slides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14032" y="3849624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388352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summary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14032" y="4197096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388352" y="4142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DD8"/>
                </a:solidFill>
              </a:rPr>
              <a:t>EcoLens  ·  1M1B Internship Project  ·  2026  ·  Making Environmental Impact Visible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6A34A">
              <a:alpha val="10000"/>
            </a:srgbClr>
          </a:solidFill>
          <a:ln w="12700">
            <a:solidFill>
              <a:srgbClr val="16A34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1005840" cy="1005840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00200" y="457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GreenTrace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00200" y="10789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College Student Carbon Footprint Tracker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5029200" cy="27432"/>
          </a:xfrm>
          <a:prstGeom prst="rect">
            <a:avLst/>
          </a:prstGeom>
          <a:solidFill>
            <a:srgbClr val="16A34A">
              <a:alpha val="5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"GreenTrace proved that with the right data presented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way — Indian students are ready to go green."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1828800" cy="1005840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Products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3017520"/>
            <a:ext cx="1828800" cy="1005840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6888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688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Tested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017520"/>
            <a:ext cx="1828800" cy="1005840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3017520"/>
            <a:ext cx="1828800" cy="1005840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6751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224528"/>
            <a:ext cx="8412480" cy="749808"/>
          </a:xfrm>
          <a:prstGeom prst="rect">
            <a:avLst/>
          </a:prstGeom>
          <a:solidFill>
            <a:srgbClr val="0A1F12"/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Prakruthi BR   ·   Keerthi N   ·   Pragathi BR   ·   Bhumika 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r>
              <a:rPr lang="en-IN" sz="1000" dirty="0">
                <a:hlinkClick r:id="rId3"/>
              </a:rPr>
              <a:t> https://splendid-fudge-521fc5.netlify.app/</a:t>
            </a:r>
            <a:r>
              <a:rPr lang="en-US" sz="1000" dirty="0">
                <a:solidFill>
                  <a:srgbClr val="D4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1M1B Internship Batch 7  ·  1M1B Green Internship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1200</Words>
  <Application>Microsoft Office PowerPoint</Application>
  <PresentationFormat>On-screen Show (16:9)</PresentationFormat>
  <Paragraphs>339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GreenTrace - BCA Internship Batch 7</dc:title>
  <dc:subject>PptxGenJS Presentation</dc:subject>
  <dc:creator>PptxGenJS</dc:creator>
  <cp:lastModifiedBy>Prakruthi Devanga</cp:lastModifiedBy>
  <cp:revision>4</cp:revision>
  <dcterms:created xsi:type="dcterms:W3CDTF">2026-03-26T15:02:31Z</dcterms:created>
  <dcterms:modified xsi:type="dcterms:W3CDTF">2026-03-31T07:39:36Z</dcterms:modified>
</cp:coreProperties>
</file>